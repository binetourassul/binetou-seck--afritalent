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4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790">
        <p15:prstTrans prst="curtains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790">
        <p15:prstTrans prst="curtains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914400" y="265168"/>
            <a:ext cx="73152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kern="0" spc="600" dirty="0">
                <a:solidFill>
                  <a:srgbClr val="FF6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AFRI</a:t>
            </a:r>
            <a:r>
              <a:rPr lang="en-US" sz="6400" b="1" kern="0" spc="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TALENT</a:t>
            </a:r>
            <a:endParaRPr lang="en-US" sz="6400" dirty="0">
              <a:solidFill>
                <a:schemeClr val="accent5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1762450"/>
            <a:ext cx="7093819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fr-FR" sz="4400" dirty="0">
                <a:solidFill>
                  <a:srgbClr val="6474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Plateforme Vitrine Freelance &amp; Entreprises</a:t>
            </a:r>
            <a:endParaRPr lang="en-US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Parchemin : vertical 11"/>
          <p:cNvSpPr/>
          <p:nvPr/>
        </p:nvSpPr>
        <p:spPr>
          <a:xfrm>
            <a:off x="1502076" y="2866612"/>
            <a:ext cx="5890126" cy="1888691"/>
          </a:xfrm>
          <a:prstGeom prst="verticalScroll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8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Présenté par : BINETOU SECK</a:t>
            </a:r>
            <a:endParaRPr lang="fr-FR" sz="28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8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Classe :  L1 IAGE </a:t>
            </a:r>
            <a:endParaRPr lang="fr-FR" sz="2800" b="1" i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8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Date : 17 juin 2026</a:t>
            </a:r>
            <a:endParaRPr lang="fr-FR" sz="2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79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8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SOMMAIRE</a:t>
            </a:r>
            <a:endParaRPr lang="en-US" sz="36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 : coins arrondis 8"/>
          <p:cNvSpPr/>
          <p:nvPr/>
        </p:nvSpPr>
        <p:spPr>
          <a:xfrm>
            <a:off x="226613" y="1051078"/>
            <a:ext cx="3796748" cy="47548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&amp; Objectifs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 : coins arrondis 2"/>
          <p:cNvSpPr/>
          <p:nvPr/>
        </p:nvSpPr>
        <p:spPr>
          <a:xfrm>
            <a:off x="226613" y="1681533"/>
            <a:ext cx="3796748" cy="47548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Identité Visuelle &amp; Design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 : coins arrondis 26"/>
          <p:cNvSpPr/>
          <p:nvPr/>
        </p:nvSpPr>
        <p:spPr>
          <a:xfrm>
            <a:off x="226613" y="2276856"/>
            <a:ext cx="3796748" cy="47548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Architecture &amp; Structure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 : coins arrondis 28"/>
          <p:cNvSpPr/>
          <p:nvPr/>
        </p:nvSpPr>
        <p:spPr>
          <a:xfrm>
            <a:off x="226613" y="2933600"/>
            <a:ext cx="3796748" cy="47548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Captures des pages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 : coins arrondis 30"/>
          <p:cNvSpPr/>
          <p:nvPr/>
        </p:nvSpPr>
        <p:spPr>
          <a:xfrm>
            <a:off x="226613" y="3616934"/>
            <a:ext cx="3796748" cy="47548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Points Techniques JS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 : coins arrondis 32"/>
          <p:cNvSpPr/>
          <p:nvPr/>
        </p:nvSpPr>
        <p:spPr>
          <a:xfrm>
            <a:off x="226613" y="4235799"/>
            <a:ext cx="3796748" cy="47548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CSS Avancé &amp; Bootstrap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 : coins arrondis 34"/>
          <p:cNvSpPr/>
          <p:nvPr/>
        </p:nvSpPr>
        <p:spPr>
          <a:xfrm>
            <a:off x="4758507" y="1051078"/>
            <a:ext cx="3796748" cy="47548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GitHub &amp; Déploiement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 : coins arrondis 36"/>
          <p:cNvSpPr/>
          <p:nvPr/>
        </p:nvSpPr>
        <p:spPr>
          <a:xfrm>
            <a:off x="4758507" y="1687387"/>
            <a:ext cx="3796748" cy="47548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Difficultés &amp; Solutions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 : coins arrondis 40"/>
          <p:cNvSpPr/>
          <p:nvPr/>
        </p:nvSpPr>
        <p:spPr>
          <a:xfrm>
            <a:off x="4758507" y="2276856"/>
            <a:ext cx="3796748" cy="47548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Ressources utilisées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 : coins arrondis 42"/>
          <p:cNvSpPr/>
          <p:nvPr/>
        </p:nvSpPr>
        <p:spPr>
          <a:xfrm>
            <a:off x="4758507" y="2933600"/>
            <a:ext cx="3796748" cy="47548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Démonstration live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 : coins arrondis 44"/>
          <p:cNvSpPr/>
          <p:nvPr/>
        </p:nvSpPr>
        <p:spPr>
          <a:xfrm>
            <a:off x="4758507" y="3626879"/>
            <a:ext cx="3796748" cy="475488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Conclusion &amp; Perspectives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790">
        <p15:prstTrans prst="curtains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976964" y="120425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DU PROJET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839979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CONTEXTE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483669" y="2956196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OBJECTIF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6126480" y="1368817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PUBLIC CIBLE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5989320" y="1913382"/>
            <a:ext cx="2834640" cy="658368"/>
          </a:xfrm>
          <a:prstGeom prst="roundRect">
            <a:avLst>
              <a:gd name="adj" fmla="val 16667"/>
            </a:avLst>
          </a:prstGeom>
          <a:solidFill>
            <a:srgbClr val="1E293B">
              <a:alpha val="50000"/>
            </a:srgbClr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26480" y="1903940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  Les développeurs Web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989320" y="2819036"/>
            <a:ext cx="2834640" cy="658368"/>
          </a:xfrm>
          <a:prstGeom prst="roundRect">
            <a:avLst>
              <a:gd name="adj" fmla="val 16667"/>
            </a:avLst>
          </a:prstGeom>
          <a:solidFill>
            <a:srgbClr val="1E293B">
              <a:alpha val="50000"/>
            </a:srgbClr>
          </a:solidFill>
          <a:ln w="1524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126480" y="2819036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Les designers UI/UX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989320" y="3707296"/>
            <a:ext cx="2834640" cy="658368"/>
          </a:xfrm>
          <a:prstGeom prst="roundRect">
            <a:avLst>
              <a:gd name="adj" fmla="val 16667"/>
            </a:avLst>
          </a:prstGeom>
          <a:solidFill>
            <a:srgbClr val="1E293B">
              <a:alpha val="50000"/>
            </a:srgbClr>
          </a:solidFill>
          <a:ln w="15240">
            <a:solidFill>
              <a:schemeClr val="accent2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126480" y="3703320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  Les entreprises africaines et des autres continents</a:t>
            </a:r>
            <a:endParaRPr lang="en-US" sz="1300" dirty="0"/>
          </a:p>
        </p:txBody>
      </p:sp>
      <p:sp>
        <p:nvSpPr>
          <p:cNvPr id="2" name="Rectangle : coins arrondis 1"/>
          <p:cNvSpPr/>
          <p:nvPr/>
        </p:nvSpPr>
        <p:spPr>
          <a:xfrm>
            <a:off x="320040" y="1268410"/>
            <a:ext cx="4405964" cy="151651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marché du freelance tech en Afrique connaît une croissance explosive. Développeurs, designers et créateurs cherchent une plateforme fiable pour proposer leurs services et trouver des missions.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 : coins arrondis 6"/>
          <p:cNvSpPr/>
          <p:nvPr/>
        </p:nvSpPr>
        <p:spPr>
          <a:xfrm>
            <a:off x="320040" y="3477404"/>
            <a:ext cx="4405964" cy="1516513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CBD5E1"/>
                </a:solidFill>
              </a:rPr>
              <a:t>Concevoir et développer le site vitrine complet d'AfriTalent : présenter la plateforme, ses fonctionnalités, ses tarifs, des profils de freelances et convaincre les visiteurs de s'inscrire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rganigramme : Connecteur 20"/>
          <p:cNvSpPr/>
          <p:nvPr/>
        </p:nvSpPr>
        <p:spPr>
          <a:xfrm>
            <a:off x="85424" y="45361"/>
            <a:ext cx="656924" cy="623345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790">
        <p15:prstTrans prst="curtains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1016773" y="82077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Identité Visuelle et Design</a:t>
            </a:r>
            <a:endParaRPr lang="en-US" sz="32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65760" y="921284"/>
            <a:ext cx="330146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6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PALETTE DE COULEURS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5760" y="1461251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143000" y="1450914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#FF6B35</a:t>
            </a:r>
            <a:r>
              <a:rPr lang="en-US" sz="1300" dirty="0">
                <a:solidFill>
                  <a:schemeClr val="accent2"/>
                </a:solidFill>
              </a:rPr>
              <a:t>   </a:t>
            </a:r>
            <a:r>
              <a:rPr lang="en-US" sz="1300" dirty="0">
                <a:solidFill>
                  <a:schemeClr val="bg2">
                    <a:lumMod val="25000"/>
                  </a:schemeClr>
                </a:solidFill>
              </a:rPr>
              <a:t>Orange</a:t>
            </a:r>
            <a:endParaRPr lang="en-US" sz="13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342900" y="2153412"/>
            <a:ext cx="685800" cy="502920"/>
          </a:xfrm>
          <a:prstGeom prst="roundRect">
            <a:avLst>
              <a:gd name="adj" fmla="val 10909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143000" y="2116836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6">
                    <a:lumMod val="75000"/>
                  </a:schemeClr>
                </a:solidFill>
              </a:rPr>
              <a:t>#0D9488</a:t>
            </a:r>
            <a:r>
              <a:rPr lang="en-US" sz="1300" dirty="0">
                <a:solidFill>
                  <a:schemeClr val="accent6">
                    <a:lumMod val="75000"/>
                  </a:schemeClr>
                </a:solidFill>
              </a:rPr>
              <a:t>  </a:t>
            </a:r>
            <a:r>
              <a:rPr lang="en-US" sz="1300" dirty="0">
                <a:solidFill>
                  <a:schemeClr val="bg2">
                    <a:lumMod val="25000"/>
                  </a:schemeClr>
                </a:solidFill>
              </a:rPr>
              <a:t>Vert</a:t>
            </a:r>
            <a:endParaRPr lang="en-US" sz="13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42900" y="2926676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143000" y="2884137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/>
              <a:t>#0F172A</a:t>
            </a:r>
            <a:r>
              <a:rPr lang="en-US" sz="1300" dirty="0"/>
              <a:t>  </a:t>
            </a:r>
            <a:r>
              <a:rPr lang="en-US" sz="1300" dirty="0">
                <a:solidFill>
                  <a:schemeClr val="bg2">
                    <a:lumMod val="25000"/>
                  </a:schemeClr>
                </a:solidFill>
              </a:rPr>
              <a:t>Noir</a:t>
            </a:r>
            <a:r>
              <a:rPr lang="en-US" sz="1300" dirty="0">
                <a:solidFill>
                  <a:srgbClr val="CBD5E1"/>
                </a:solidFill>
              </a:rPr>
              <a:t>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" y="3700338"/>
            <a:ext cx="685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234440" y="3684435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#FFFFFF</a:t>
            </a:r>
            <a:r>
              <a:rPr lang="en-US" sz="1300" dirty="0">
                <a:solidFill>
                  <a:srgbClr val="CBD5E1"/>
                </a:solidFill>
              </a:rPr>
              <a:t>  </a:t>
            </a:r>
            <a:r>
              <a:rPr lang="en-US" sz="1300" dirty="0">
                <a:solidFill>
                  <a:schemeClr val="bg2">
                    <a:lumMod val="25000"/>
                  </a:schemeClr>
                </a:solidFill>
              </a:rPr>
              <a:t>Blanc</a:t>
            </a:r>
            <a:endParaRPr lang="en-US" sz="13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5309483" y="129497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POLICES ET INSPIRATION</a:t>
            </a:r>
            <a:endParaRPr lang="en-US" sz="20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765813" y="1870545"/>
            <a:ext cx="4218167" cy="2312835"/>
          </a:xfrm>
          <a:prstGeom prst="roundRect">
            <a:avLst>
              <a:gd name="adj" fmla="val 8276"/>
            </a:avLst>
          </a:prstGeom>
          <a:solidFill>
            <a:srgbClr val="1E293B">
              <a:alpha val="55000"/>
            </a:srgbClr>
          </a:solidFill>
          <a:ln w="15240">
            <a:solidFill>
              <a:srgbClr val="FF6B3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937760" y="2342454"/>
            <a:ext cx="4126726" cy="156829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b="1" dirty="0">
                <a:solidFill>
                  <a:schemeClr val="accent2"/>
                </a:solidFill>
              </a:rPr>
              <a:t>POLICE: </a:t>
            </a:r>
            <a:r>
              <a:rPr lang="en-US" dirty="0">
                <a:solidFill>
                  <a:srgbClr val="CBD5E1"/>
                </a:solidFill>
              </a:rPr>
              <a:t>Poppins ,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Times New Roman,</a:t>
            </a:r>
            <a:endParaRPr lang="en-US" dirty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INSPIRATION:</a:t>
            </a:r>
            <a:endParaRPr lang="en-US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-Awwards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https//www.awwwards.com/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-Dribbble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https//dribble.com/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2" name="Organigramme : Connecteur 1"/>
          <p:cNvSpPr/>
          <p:nvPr/>
        </p:nvSpPr>
        <p:spPr>
          <a:xfrm>
            <a:off x="117909" y="90248"/>
            <a:ext cx="590751" cy="502920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02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790">
        <p15:prstTrans prst="curtains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1097280" y="140550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&amp; Structure</a:t>
            </a:r>
            <a:endParaRPr lang="en-US" sz="3600" b="1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1005840"/>
            <a:ext cx="4114800" cy="3931920"/>
          </a:xfrm>
          <a:prstGeom prst="roundRect">
            <a:avLst>
              <a:gd name="adj" fmla="val 2791"/>
            </a:avLst>
          </a:prstGeom>
          <a:solidFill>
            <a:srgbClr val="1E293B">
              <a:alpha val="65000"/>
            </a:srgbClr>
          </a:solidFill>
          <a:ln w="15240">
            <a:solidFill>
              <a:srgbClr val="FF6B3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48640" y="100584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ARBORESCENCE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800600" y="86868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5 PAGES HTML</a:t>
            </a:r>
            <a:endParaRPr lang="en-US" sz="1300" dirty="0">
              <a:solidFill>
                <a:schemeClr val="accent2"/>
              </a:solidFill>
            </a:endParaRPr>
          </a:p>
        </p:txBody>
      </p:sp>
      <p:sp>
        <p:nvSpPr>
          <p:cNvPr id="22" name="Shape 19"/>
          <p:cNvSpPr/>
          <p:nvPr/>
        </p:nvSpPr>
        <p:spPr>
          <a:xfrm>
            <a:off x="4754880" y="1339397"/>
            <a:ext cx="4114800" cy="594360"/>
          </a:xfrm>
          <a:prstGeom prst="roundRect">
            <a:avLst>
              <a:gd name="adj" fmla="val 18462"/>
            </a:avLst>
          </a:prstGeom>
          <a:solidFill>
            <a:schemeClr val="tx1">
              <a:alpha val="50000"/>
            </a:schemeClr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937760" y="1331446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index.html  </a:t>
            </a:r>
            <a:r>
              <a:rPr lang="en-US" sz="1200" dirty="0">
                <a:solidFill>
                  <a:srgbClr val="CBD5E1"/>
                </a:solidFill>
              </a:rPr>
              <a:t>Accueil , Hero, Bento Grid, Stats animées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54880" y="2167128"/>
            <a:ext cx="4114800" cy="594360"/>
          </a:xfrm>
          <a:prstGeom prst="roundRect">
            <a:avLst>
              <a:gd name="adj" fmla="val 18462"/>
            </a:avLst>
          </a:prstGeom>
          <a:solidFill>
            <a:schemeClr val="tx1">
              <a:alpha val="50000"/>
            </a:schemeClr>
          </a:solidFill>
          <a:ln w="152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892040" y="2167128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freelances.html  </a:t>
            </a:r>
            <a:r>
              <a:rPr lang="en-US" sz="1200" b="1" dirty="0">
                <a:solidFill>
                  <a:srgbClr val="CBD5E1"/>
                </a:solidFill>
              </a:rPr>
              <a:t>La liste des freelances de AfriTalent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754880" y="2871216"/>
            <a:ext cx="4114800" cy="594360"/>
          </a:xfrm>
          <a:prstGeom prst="roundRect">
            <a:avLst>
              <a:gd name="adj" fmla="val 18462"/>
            </a:avLst>
          </a:prstGeom>
          <a:solidFill>
            <a:schemeClr val="tx1">
              <a:alpha val="50000"/>
            </a:schemeClr>
          </a:solidFill>
          <a:ln w="152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92040" y="2871216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tarifs.html  </a:t>
            </a:r>
            <a:r>
              <a:rPr lang="en-US" sz="1200" dirty="0">
                <a:solidFill>
                  <a:srgbClr val="CBD5E1"/>
                </a:solidFill>
              </a:rPr>
              <a:t>Plans Gratuit / Pro / Entreprise + FAQ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754880" y="3575304"/>
            <a:ext cx="4114800" cy="594360"/>
          </a:xfrm>
          <a:prstGeom prst="roundRect">
            <a:avLst>
              <a:gd name="adj" fmla="val 18462"/>
            </a:avLst>
          </a:prstGeom>
          <a:solidFill>
            <a:schemeClr val="tx1">
              <a:alpha val="50000"/>
            </a:schemeClr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4892040" y="3575304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about.html  </a:t>
            </a:r>
            <a:r>
              <a:rPr lang="en-US" sz="1200" dirty="0">
                <a:solidFill>
                  <a:srgbClr val="CBD5E1"/>
                </a:solidFill>
              </a:rPr>
              <a:t>Histoire, Équipe, Valeurs, Chiffres clés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754880" y="4279392"/>
            <a:ext cx="4114800" cy="594360"/>
          </a:xfrm>
          <a:prstGeom prst="roundRect">
            <a:avLst>
              <a:gd name="adj" fmla="val 18462"/>
            </a:avLst>
          </a:prstGeom>
          <a:solidFill>
            <a:schemeClr val="tx1">
              <a:alpha val="50000"/>
            </a:schemeClr>
          </a:solidFill>
          <a:ln w="152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892040" y="4279392"/>
            <a:ext cx="38404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contact.html  </a:t>
            </a:r>
            <a:r>
              <a:rPr lang="en-US" sz="1200" dirty="0">
                <a:solidFill>
                  <a:srgbClr val="CBD5E1"/>
                </a:solidFill>
              </a:rPr>
              <a:t>Formulaire validé JS + Google Maps</a:t>
            </a:r>
            <a:endParaRPr lang="en-US" sz="1200" dirty="0"/>
          </a:p>
        </p:txBody>
      </p:sp>
      <p:sp>
        <p:nvSpPr>
          <p:cNvPr id="32" name="ZoneTexte 31"/>
          <p:cNvSpPr txBox="1"/>
          <p:nvPr/>
        </p:nvSpPr>
        <p:spPr>
          <a:xfrm>
            <a:off x="548640" y="1417320"/>
            <a:ext cx="365561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NOM-Prénom- AfriTalent/ </a:t>
            </a:r>
            <a:endParaRPr lang="fr-FR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├── index.html </a:t>
            </a:r>
            <a:endParaRPr lang="fr-FR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├── freelances.html </a:t>
            </a:r>
            <a:endParaRPr lang="fr-FR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├── tarifs.html </a:t>
            </a:r>
            <a:endParaRPr lang="fr-FR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├── about.html </a:t>
            </a:r>
            <a:endParaRPr lang="fr-FR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├── contact.html</a:t>
            </a:r>
            <a:endParaRPr lang="fr-FR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├── css/ </a:t>
            </a:r>
            <a:endParaRPr lang="fr-FR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│ └── style.css </a:t>
            </a:r>
            <a:endParaRPr lang="fr-FR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├── js/ </a:t>
            </a:r>
            <a:endParaRPr lang="fr-FR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│ └── main.js </a:t>
            </a:r>
            <a:endParaRPr lang="fr-FR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├── images/ </a:t>
            </a:r>
            <a:endParaRPr lang="fr-FR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│ └── (vos images, logos, avatars) </a:t>
            </a:r>
            <a:endParaRPr lang="fr-FR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├── docs/ </a:t>
            </a:r>
            <a:endParaRPr lang="fr-FR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│ └── NOM_Prenom_Presentation.pptx </a:t>
            </a:r>
            <a:endParaRPr lang="fr-FR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├── README.md </a:t>
            </a:r>
            <a:endParaRPr lang="fr-FR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└── .gitignore</a:t>
            </a:r>
            <a:endParaRPr lang="fr-FR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2" name="Organigramme : Connecteur 1"/>
          <p:cNvSpPr/>
          <p:nvPr/>
        </p:nvSpPr>
        <p:spPr>
          <a:xfrm>
            <a:off x="240632" y="140550"/>
            <a:ext cx="644892" cy="540218"/>
          </a:xfrm>
          <a:prstGeom prst="flowChartConnector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/>
              <a:t>03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790">
        <p15:prstTrans prst="curtains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298383" y="4572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CAPTURES DES PAGES DU SITE</a:t>
            </a:r>
            <a:endParaRPr lang="en-US" sz="24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1" y="1524400"/>
            <a:ext cx="4733223" cy="3619100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33223" y="1524398"/>
            <a:ext cx="4410777" cy="3619101"/>
          </a:xfrm>
          <a:prstGeom prst="rect">
            <a:avLst/>
          </a:prstGeom>
        </p:spPr>
      </p:pic>
      <p:sp>
        <p:nvSpPr>
          <p:cNvPr id="2" name="Rectangle : coins arrondis 1"/>
          <p:cNvSpPr/>
          <p:nvPr/>
        </p:nvSpPr>
        <p:spPr>
          <a:xfrm>
            <a:off x="1260909" y="889974"/>
            <a:ext cx="1722922" cy="3827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Index.html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 : coins arrondis 6"/>
          <p:cNvSpPr/>
          <p:nvPr/>
        </p:nvSpPr>
        <p:spPr>
          <a:xfrm>
            <a:off x="6073541" y="889973"/>
            <a:ext cx="1722922" cy="3827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Freelance.html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790">
        <p15:prstTrans prst="curtains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228601" y="102027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CAPTURES DES PAGES (SUITE)</a:t>
            </a:r>
            <a:endParaRPr lang="en-US" sz="24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28601" y="2009996"/>
            <a:ext cx="2651760" cy="2423160"/>
          </a:xfrm>
          <a:prstGeom prst="rect">
            <a:avLst/>
          </a:prstGeom>
        </p:spPr>
      </p:pic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246120" y="1972216"/>
            <a:ext cx="2651760" cy="2423160"/>
          </a:xfrm>
          <a:prstGeom prst="rect">
            <a:avLst/>
          </a:prstGeom>
        </p:spPr>
      </p:pic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63640" y="1972216"/>
            <a:ext cx="2651760" cy="2423160"/>
          </a:xfrm>
          <a:prstGeom prst="rect">
            <a:avLst/>
          </a:prstGeom>
        </p:spPr>
      </p:pic>
      <p:sp>
        <p:nvSpPr>
          <p:cNvPr id="8" name="Rectangle : coins arrondis 7"/>
          <p:cNvSpPr/>
          <p:nvPr/>
        </p:nvSpPr>
        <p:spPr>
          <a:xfrm>
            <a:off x="668955" y="1272697"/>
            <a:ext cx="1722922" cy="3827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tarifs.html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 : coins arrondis 10"/>
          <p:cNvSpPr/>
          <p:nvPr/>
        </p:nvSpPr>
        <p:spPr>
          <a:xfrm>
            <a:off x="3598243" y="1272696"/>
            <a:ext cx="1722922" cy="3827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about.html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Rectangle : coins arrondis 13"/>
          <p:cNvSpPr/>
          <p:nvPr/>
        </p:nvSpPr>
        <p:spPr>
          <a:xfrm>
            <a:off x="6694372" y="1272697"/>
            <a:ext cx="1722922" cy="38272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contact.html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790">
        <p15:prstTrans prst="curtains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274320" y="-19070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POINTS TECHNIQUES  JAVASCRIPT</a:t>
            </a:r>
            <a:endParaRPr lang="en-US" sz="24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75385" y="960120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9601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1667510"/>
            <a:ext cx="4769485" cy="2998470"/>
          </a:xfrm>
          <a:prstGeom prst="roundRect">
            <a:avLst>
              <a:gd name="adj" fmla="val 3636"/>
            </a:avLst>
          </a:prstGeom>
          <a:solidFill>
            <a:srgbClr val="0F172A">
              <a:alpha val="95000"/>
            </a:srgbClr>
          </a:solidFill>
          <a:ln w="15240">
            <a:solidFill>
              <a:srgbClr val="1E293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r>
              <a:rPr lang="en-US" altLang="fr-FR">
                <a:solidFill>
                  <a:srgbClr val="FF0000"/>
                </a:solidFill>
              </a:rPr>
              <a:t>if (darkModeToggle) {</a:t>
            </a:r>
            <a:endParaRPr lang="en-US" altLang="fr-FR">
              <a:solidFill>
                <a:srgbClr val="FF0000"/>
              </a:solidFill>
            </a:endParaRPr>
          </a:p>
          <a:p>
            <a:r>
              <a:rPr lang="en-US" altLang="fr-FR">
                <a:solidFill>
                  <a:srgbClr val="FF0000"/>
                </a:solidFill>
              </a:rPr>
              <a:t>  darkModeToggle.addEventListener('click', () =&gt; {</a:t>
            </a:r>
            <a:endParaRPr lang="en-US" altLang="fr-FR">
              <a:solidFill>
                <a:srgbClr val="FF0000"/>
              </a:solidFill>
            </a:endParaRPr>
          </a:p>
          <a:p>
            <a:r>
              <a:rPr lang="en-US" altLang="fr-FR">
                <a:solidFill>
                  <a:srgbClr val="FF0000"/>
                </a:solidFill>
              </a:rPr>
              <a:t>    body.classList.toggle('dark-mode');</a:t>
            </a:r>
            <a:endParaRPr lang="en-US" altLang="fr-FR">
              <a:solidFill>
                <a:srgbClr val="FF0000"/>
              </a:solidFill>
            </a:endParaRPr>
          </a:p>
          <a:p>
            <a:r>
              <a:rPr lang="en-US" altLang="fr-FR">
                <a:solidFill>
                  <a:srgbClr val="FF0000"/>
                </a:solidFill>
              </a:rPr>
              <a:t>    localStorage.setItem('theme', 'dark');</a:t>
            </a:r>
            <a:endParaRPr lang="en-US" altLang="fr-FR">
              <a:solidFill>
                <a:srgbClr val="FF0000"/>
              </a:solidFill>
            </a:endParaRPr>
          </a:p>
          <a:p>
            <a:r>
              <a:rPr lang="en-US" altLang="fr-FR">
                <a:solidFill>
                  <a:srgbClr val="FF0000"/>
                </a:solidFill>
              </a:rPr>
              <a:t>  });</a:t>
            </a:r>
            <a:endParaRPr lang="en-US" altLang="fr-FR">
              <a:solidFill>
                <a:srgbClr val="FF0000"/>
              </a:solidFill>
            </a:endParaRPr>
          </a:p>
          <a:p>
            <a:r>
              <a:rPr lang="en-US" altLang="fr-FR">
                <a:solidFill>
                  <a:srgbClr val="FF0000"/>
                </a:solidFill>
              </a:rPr>
              <a:t>}</a:t>
            </a:r>
            <a:endParaRPr lang="en-US" altLang="fr-FR">
              <a:solidFill>
                <a:srgbClr val="FF0000"/>
              </a:solidFill>
            </a:endParaRPr>
          </a:p>
          <a:p>
            <a:r>
              <a:rPr lang="en-US" altLang="fr-FR">
                <a:solidFill>
                  <a:srgbClr val="FF0000"/>
                </a:solidFill>
              </a:rPr>
              <a:t>Point cl</a:t>
            </a:r>
            <a:r>
              <a:rPr lang="en-US" altLang="en-US">
                <a:solidFill>
                  <a:srgbClr val="FF0000"/>
                </a:solidFill>
              </a:rPr>
              <a:t>é</a:t>
            </a:r>
            <a:r>
              <a:rPr lang="en-US" altLang="fr-FR">
                <a:solidFill>
                  <a:srgbClr val="FF0000"/>
                </a:solidFill>
              </a:rPr>
              <a:t> : if (darkModeToggle) </a:t>
            </a:r>
            <a:r>
              <a:rPr lang="en-US" altLang="en-US">
                <a:solidFill>
                  <a:srgbClr val="FF0000"/>
                </a:solidFill>
              </a:rPr>
              <a:t>é</a:t>
            </a:r>
            <a:r>
              <a:rPr lang="en-US" altLang="fr-FR">
                <a:solidFill>
                  <a:srgbClr val="FF0000"/>
                </a:solidFill>
              </a:rPr>
              <a:t>vite le crash Cannot read properties of null sur les pages sans bouton. localStorage retient le choix utilisateur.</a:t>
            </a:r>
            <a:endParaRPr lang="en-US" altLang="fr-FR">
              <a:solidFill>
                <a:srgbClr val="FF0000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274955" y="1600200"/>
            <a:ext cx="5165725" cy="330009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60720" y="877824"/>
            <a:ext cx="3277402" cy="4009644"/>
          </a:xfrm>
          <a:prstGeom prst="roundRect">
            <a:avLst>
              <a:gd name="adj" fmla="val 10169"/>
            </a:avLst>
          </a:prstGeom>
          <a:solidFill>
            <a:srgbClr val="1E293B">
              <a:alpha val="55000"/>
            </a:srgbClr>
          </a:solidFill>
          <a:ln w="15240">
            <a:solidFill>
              <a:schemeClr val="accent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r>
              <a:rPr lang="en-US"/>
              <a:t>VALIDATION FORMULAIE</a:t>
            </a:r>
            <a:endParaRPr lang="en-US"/>
          </a:p>
          <a:p>
            <a:r>
              <a:rPr lang="en-US" altLang="fr-FR"/>
              <a:t>function afficherErreur(champ, texte) {</a:t>
            </a:r>
            <a:endParaRPr lang="en-US" altLang="fr-FR"/>
          </a:p>
          <a:p>
            <a:r>
              <a:rPr lang="en-US" altLang="fr-FR"/>
              <a:t>  champ.classList.add("is-invalid");</a:t>
            </a:r>
            <a:endParaRPr lang="en-US" altLang="fr-FR"/>
          </a:p>
          <a:p>
            <a:r>
              <a:rPr lang="en-US" altLang="fr-FR"/>
              <a:t>  const div = document.createElement("div");</a:t>
            </a:r>
            <a:endParaRPr lang="en-US" altLang="fr-FR"/>
          </a:p>
          <a:p>
            <a:r>
              <a:rPr lang="en-US" altLang="fr-FR"/>
              <a:t>  div.className = "invalid-feedback";</a:t>
            </a:r>
            <a:endParaRPr lang="en-US" altLang="fr-FR"/>
          </a:p>
          <a:p>
            <a:r>
              <a:rPr lang="en-US" altLang="fr-FR"/>
              <a:t>  div.textContent = texte;</a:t>
            </a:r>
            <a:endParaRPr lang="en-US" altLang="fr-FR"/>
          </a:p>
          <a:p>
            <a:r>
              <a:rPr lang="en-US" altLang="fr-FR"/>
              <a:t>}</a:t>
            </a:r>
            <a:endParaRPr lang="en-US" altLang="fr-FR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790">
        <p15:prstTrans prst="curtains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365760" y="-13475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 AVANCÉ ET BOOTSTRAP </a:t>
            </a:r>
            <a:endParaRPr lang="en-US" sz="24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1005840"/>
            <a:ext cx="4023360" cy="2286000"/>
          </a:xfrm>
          <a:prstGeom prst="roundRect">
            <a:avLst>
              <a:gd name="adj" fmla="val 4800"/>
            </a:avLst>
          </a:prstGeom>
          <a:solidFill>
            <a:srgbClr val="0F172A">
              <a:alpha val="95000"/>
            </a:srgbClr>
          </a:solidFill>
          <a:ln w="15240">
            <a:solidFill>
              <a:srgbClr val="FF6B3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1051560"/>
            <a:ext cx="3749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6B35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Variables CSS  dans le :root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" y="138988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--primary: </a:t>
            </a:r>
            <a:r>
              <a:rPr lang="en-US" sz="1100" dirty="0">
                <a:solidFill>
                  <a:srgbClr val="86EFA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#FF6B35;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" y="1682496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--secondary: </a:t>
            </a:r>
            <a:r>
              <a:rPr lang="en-US" sz="1100" dirty="0">
                <a:solidFill>
                  <a:srgbClr val="86EFA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#0D9488;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" y="1975104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--dark: </a:t>
            </a:r>
            <a:r>
              <a:rPr lang="en-US" sz="1100" dirty="0">
                <a:solidFill>
                  <a:srgbClr val="86EFA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#0F172A;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" y="2267712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--gold: </a:t>
            </a:r>
            <a:r>
              <a:rPr lang="en-US" sz="1100" dirty="0">
                <a:solidFill>
                  <a:srgbClr val="86EFA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#F59E0B;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" y="2560320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--font-title: </a:t>
            </a:r>
            <a:r>
              <a:rPr lang="en-US" sz="1100" dirty="0">
                <a:solidFill>
                  <a:srgbClr val="86EFA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'Poppins';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94360" y="285292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--font-body: </a:t>
            </a:r>
            <a:r>
              <a:rPr lang="en-US" sz="1100" dirty="0">
                <a:solidFill>
                  <a:srgbClr val="86EFA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'Open Sans';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17720" y="1005840"/>
            <a:ext cx="4160520" cy="749808"/>
          </a:xfrm>
          <a:prstGeom prst="roundRect">
            <a:avLst>
              <a:gd name="adj" fmla="val 14634"/>
            </a:avLst>
          </a:prstGeom>
          <a:solidFill>
            <a:srgbClr val="1E293B">
              <a:alpha val="50000"/>
            </a:srgbClr>
          </a:solidFill>
          <a:ln w="152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754880" y="1005840"/>
            <a:ext cx="3886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Bento Grid    </a:t>
            </a:r>
            <a:r>
              <a:rPr lang="en-US" sz="1200" dirty="0">
                <a:solidFill>
                  <a:srgbClr val="CBD5E1"/>
                </a:solidFill>
              </a:rPr>
              <a:t>CSS Grid asymétrique  cartes de tailles différentes via grid-column: span 2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17720" y="1874520"/>
            <a:ext cx="4160520" cy="749808"/>
          </a:xfrm>
          <a:prstGeom prst="roundRect">
            <a:avLst>
              <a:gd name="adj" fmla="val 14634"/>
            </a:avLst>
          </a:prstGeom>
          <a:solidFill>
            <a:srgbClr val="1E293B">
              <a:alpha val="50000"/>
            </a:srgbClr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54880" y="1874520"/>
            <a:ext cx="3886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Responsive    </a:t>
            </a:r>
            <a:r>
              <a:rPr lang="en-US" sz="1200" dirty="0">
                <a:solidFill>
                  <a:srgbClr val="CBD5E1"/>
                </a:solidFill>
              </a:rPr>
              <a:t>Media queries 375px / 768px / 1200px+ / col-12, col-md-6, col-lg-4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17720" y="2743200"/>
            <a:ext cx="4160520" cy="749808"/>
          </a:xfrm>
          <a:prstGeom prst="roundRect">
            <a:avLst>
              <a:gd name="adj" fmla="val 14634"/>
            </a:avLst>
          </a:prstGeom>
          <a:solidFill>
            <a:srgbClr val="1E293B">
              <a:alpha val="50000"/>
            </a:srgbClr>
          </a:solidFill>
          <a:ln w="152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754880" y="2743200"/>
            <a:ext cx="3886200" cy="7498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Animations</a:t>
            </a:r>
            <a:r>
              <a:rPr lang="en-US" sz="1200" b="1" dirty="0">
                <a:solidFill>
                  <a:srgbClr val="F59E0B"/>
                </a:solidFill>
              </a:rPr>
              <a:t>    </a:t>
            </a:r>
            <a:r>
              <a:rPr lang="en-US" sz="1200" dirty="0">
                <a:solidFill>
                  <a:srgbClr val="CBD5E1"/>
                </a:solidFill>
              </a:rPr>
              <a:t>Hover (transform + box-shadow) · Fade-in scroll avec IntersectionObserver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53296" y="4137660"/>
            <a:ext cx="2269156" cy="566928"/>
          </a:xfrm>
          <a:prstGeom prst="roundRect">
            <a:avLst>
              <a:gd name="adj" fmla="val 19355"/>
            </a:avLst>
          </a:prstGeom>
          <a:solidFill>
            <a:schemeClr val="tx1">
              <a:alpha val="45000"/>
            </a:schemeClr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62940" y="4114319"/>
            <a:ext cx="221284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Navbar  </a:t>
            </a:r>
            <a:r>
              <a:rPr lang="en-US" sz="1200" dirty="0">
                <a:solidFill>
                  <a:srgbClr val="CBD5E1"/>
                </a:solidFill>
              </a:rPr>
              <a:t>Sticky, hamburger mobile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139442" y="4177484"/>
            <a:ext cx="1792224" cy="566928"/>
          </a:xfrm>
          <a:prstGeom prst="roundRect">
            <a:avLst>
              <a:gd name="adj" fmla="val 19355"/>
            </a:avLst>
          </a:prstGeom>
          <a:solidFill>
            <a:schemeClr val="tx1">
              <a:alpha val="45000"/>
            </a:schemeClr>
          </a:solidFill>
          <a:ln w="152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328416" y="4150655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Cards</a:t>
            </a:r>
            <a:r>
              <a:rPr lang="en-US" sz="1200" b="1" dirty="0">
                <a:solidFill>
                  <a:srgbClr val="0D9488"/>
                </a:solidFill>
              </a:rPr>
              <a:t>  </a:t>
            </a:r>
            <a:r>
              <a:rPr lang="en-US" sz="1200" dirty="0">
                <a:solidFill>
                  <a:srgbClr val="CBD5E1"/>
                </a:solidFill>
              </a:rPr>
              <a:t>Profils et tarifs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248656" y="4150655"/>
            <a:ext cx="1792224" cy="566928"/>
          </a:xfrm>
          <a:prstGeom prst="roundRect">
            <a:avLst>
              <a:gd name="adj" fmla="val 19355"/>
            </a:avLst>
          </a:prstGeom>
          <a:solidFill>
            <a:schemeClr val="tx1">
              <a:alpha val="45000"/>
            </a:schemeClr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373625" y="4127314"/>
            <a:ext cx="243230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Carouse</a:t>
            </a:r>
            <a:r>
              <a:rPr lang="en-US" sz="1200" b="1" dirty="0">
                <a:solidFill>
                  <a:srgbClr val="FF6B35"/>
                </a:solidFill>
              </a:rPr>
              <a:t>l  </a:t>
            </a:r>
            <a:r>
              <a:rPr lang="en-US" sz="1200" dirty="0">
                <a:solidFill>
                  <a:srgbClr val="CBD5E1"/>
                </a:solidFill>
              </a:rPr>
              <a:t>Témoignages</a:t>
            </a:r>
            <a:endParaRPr lang="en-US" sz="1200" dirty="0"/>
          </a:p>
        </p:txBody>
      </p:sp>
      <p:sp>
        <p:nvSpPr>
          <p:cNvPr id="40" name="Shape 24"/>
          <p:cNvSpPr/>
          <p:nvPr/>
        </p:nvSpPr>
        <p:spPr>
          <a:xfrm>
            <a:off x="7260336" y="4150655"/>
            <a:ext cx="1707201" cy="566928"/>
          </a:xfrm>
          <a:prstGeom prst="roundRect">
            <a:avLst>
              <a:gd name="adj" fmla="val 19355"/>
            </a:avLst>
          </a:prstGeom>
          <a:solidFill>
            <a:schemeClr val="tx1">
              <a:alpha val="45000"/>
            </a:schemeClr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r>
              <a:rPr lang="en-US" sz="1400" b="1" dirty="0">
                <a:solidFill>
                  <a:schemeClr val="accent2"/>
                </a:solidFill>
              </a:rPr>
              <a:t>Accordions</a:t>
            </a:r>
            <a:r>
              <a:rPr lang="en-US" sz="1600" dirty="0">
                <a:solidFill>
                  <a:schemeClr val="accent2"/>
                </a:solidFill>
              </a:rPr>
              <a:t> </a:t>
            </a:r>
            <a:r>
              <a:rPr lang="en-US" sz="1200" dirty="0">
                <a:solidFill>
                  <a:schemeClr val="bg1"/>
                </a:solidFill>
              </a:rPr>
              <a:t>: FaQ (questions)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1" name="Rectangle : coins arrondis 40"/>
          <p:cNvSpPr/>
          <p:nvPr/>
        </p:nvSpPr>
        <p:spPr>
          <a:xfrm>
            <a:off x="502920" y="3523446"/>
            <a:ext cx="3019926" cy="40666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FFFFFF"/>
                </a:solidFill>
              </a:rPr>
              <a:t>COMPOSANTS BOOTSTRAP 5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790">
        <p15:prstTrans prst="curtains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374904" y="16844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&amp; DÉPLOIEMENT</a:t>
            </a:r>
            <a:endParaRPr lang="en-US" sz="24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74904" y="592434"/>
            <a:ext cx="8412480" cy="566928"/>
          </a:xfrm>
          <a:prstGeom prst="roundRect">
            <a:avLst>
              <a:gd name="adj" fmla="val 16129"/>
            </a:avLst>
          </a:prstGeom>
          <a:solidFill>
            <a:srgbClr val="0F172A">
              <a:alpha val="90000"/>
            </a:srgbClr>
          </a:solidFill>
          <a:ln w="1905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59243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948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</a:t>
            </a:r>
            <a:r>
              <a:rPr lang="en-US" sz="1300" dirty="0">
                <a:solidFill>
                  <a:schemeClr val="accent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Lien Github Pages :</a:t>
            </a:r>
            <a:r>
              <a:rPr lang="en-US" sz="13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https://binetourassul.github.io/Binetou-seck--AfriTalent/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4556" y="1424539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HISTORIQUE DES  10 COMMITS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65760" y="1965960"/>
            <a:ext cx="4114800" cy="484632"/>
          </a:xfrm>
          <a:prstGeom prst="roundRect">
            <a:avLst>
              <a:gd name="adj" fmla="val 22642"/>
            </a:avLst>
          </a:prstGeom>
          <a:solidFill>
            <a:schemeClr val="tx1">
              <a:alpha val="45000"/>
            </a:schemeClr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75488" y="1965960"/>
            <a:ext cx="3913632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 </a:t>
            </a:r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Init : création du dépôt, arborescence des fichiers et structure HTML de base</a:t>
            </a: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65760" y="2505456"/>
            <a:ext cx="4114800" cy="484632"/>
          </a:xfrm>
          <a:prstGeom prst="roundRect">
            <a:avLst>
              <a:gd name="adj" fmla="val 22642"/>
            </a:avLst>
          </a:prstGeom>
          <a:solidFill>
            <a:schemeClr val="tx1">
              <a:alpha val="45000"/>
            </a:schemeClr>
          </a:solidFill>
          <a:ln w="152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5488" y="2505456"/>
            <a:ext cx="3913632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 </a:t>
            </a:r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HTML : structure complète des 5 pages avec sections et contenu texte</a:t>
            </a: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65760" y="3044952"/>
            <a:ext cx="4114800" cy="484632"/>
          </a:xfrm>
          <a:prstGeom prst="roundRect">
            <a:avLst>
              <a:gd name="adj" fmla="val 22642"/>
            </a:avLst>
          </a:prstGeom>
          <a:solidFill>
            <a:schemeClr val="tx1">
              <a:alpha val="45000"/>
            </a:schemeClr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5488" y="3044952"/>
            <a:ext cx="3913632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CBD5E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</a:t>
            </a: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CSS : variables, typographie, layout général et styles de base </a:t>
            </a: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65760" y="3594554"/>
            <a:ext cx="4114800" cy="484632"/>
          </a:xfrm>
          <a:prstGeom prst="roundRect">
            <a:avLst>
              <a:gd name="adj" fmla="val 22642"/>
            </a:avLst>
          </a:prstGeom>
          <a:solidFill>
            <a:schemeClr val="tx1">
              <a:alpha val="45000"/>
            </a:schemeClr>
          </a:solidFill>
          <a:ln w="152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74904" y="4163408"/>
            <a:ext cx="4114800" cy="484632"/>
          </a:xfrm>
          <a:prstGeom prst="roundRect">
            <a:avLst>
              <a:gd name="adj" fmla="val 22642"/>
            </a:avLst>
          </a:prstGeom>
          <a:solidFill>
            <a:schemeClr val="tx1">
              <a:alpha val="45000"/>
            </a:schemeClr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75488" y="4123944"/>
            <a:ext cx="3913632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CBD5E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05 CSS</a:t>
            </a:r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 : responsive design mobile et tablette, media queries</a:t>
            </a:r>
            <a:endParaRPr lang="en-US" sz="9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1" name="Shape 18"/>
          <p:cNvSpPr/>
          <p:nvPr/>
        </p:nvSpPr>
        <p:spPr>
          <a:xfrm>
            <a:off x="4663440" y="1965960"/>
            <a:ext cx="4114800" cy="484632"/>
          </a:xfrm>
          <a:prstGeom prst="roundRect">
            <a:avLst>
              <a:gd name="adj" fmla="val 22642"/>
            </a:avLst>
          </a:prstGeom>
          <a:solidFill>
            <a:schemeClr val="tx1">
              <a:alpha val="45000"/>
            </a:schemeClr>
          </a:solidFill>
          <a:ln w="152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773168" y="1965960"/>
            <a:ext cx="3913632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06  </a:t>
            </a:r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JS : dark mode avec localStorage, navbar dynamique au scroll</a:t>
            </a: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663440" y="2505456"/>
            <a:ext cx="4114800" cy="484632"/>
          </a:xfrm>
          <a:prstGeom prst="roundRect">
            <a:avLst>
              <a:gd name="adj" fmla="val 22642"/>
            </a:avLst>
          </a:prstGeom>
          <a:solidFill>
            <a:schemeClr val="tx1">
              <a:alpha val="45000"/>
            </a:schemeClr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773168" y="2505456"/>
            <a:ext cx="3913632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CBD5E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07 </a:t>
            </a:r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JS : compteurs animés au scroll et animations fade-in des sections </a:t>
            </a:r>
            <a:endParaRPr lang="en-US" sz="9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5" name="Shape 22"/>
          <p:cNvSpPr/>
          <p:nvPr/>
        </p:nvSpPr>
        <p:spPr>
          <a:xfrm>
            <a:off x="4663440" y="3044952"/>
            <a:ext cx="4114800" cy="484632"/>
          </a:xfrm>
          <a:prstGeom prst="roundRect">
            <a:avLst>
              <a:gd name="adj" fmla="val 22642"/>
            </a:avLst>
          </a:prstGeom>
          <a:solidFill>
            <a:schemeClr val="tx1">
              <a:alpha val="45000"/>
            </a:schemeClr>
          </a:solidFill>
          <a:ln w="152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773168" y="3044952"/>
            <a:ext cx="3913632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CBD5E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08 </a:t>
            </a:r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JS : filtrage dynamique des freelances et validation du formulaire de contact </a:t>
            </a:r>
            <a:endParaRPr lang="en-US" sz="9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7" name="Shape 24"/>
          <p:cNvSpPr/>
          <p:nvPr/>
        </p:nvSpPr>
        <p:spPr>
          <a:xfrm>
            <a:off x="4663440" y="3584448"/>
            <a:ext cx="4114800" cy="484632"/>
          </a:xfrm>
          <a:prstGeom prst="roundRect">
            <a:avLst>
              <a:gd name="adj" fmla="val 22642"/>
            </a:avLst>
          </a:prstGeom>
          <a:solidFill>
            <a:schemeClr val="tx1">
              <a:alpha val="45000"/>
            </a:schemeClr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773168" y="3584448"/>
            <a:ext cx="4114800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CBD5E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 </a:t>
            </a:r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Finalisation : corrections responsive, optimisation du code et commentaires</a:t>
            </a:r>
            <a:endParaRPr lang="en-US" sz="95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9" name="Shape 26"/>
          <p:cNvSpPr/>
          <p:nvPr/>
        </p:nvSpPr>
        <p:spPr>
          <a:xfrm>
            <a:off x="4663440" y="4123944"/>
            <a:ext cx="4114800" cy="484632"/>
          </a:xfrm>
          <a:prstGeom prst="roundRect">
            <a:avLst>
              <a:gd name="adj" fmla="val 22642"/>
            </a:avLst>
          </a:prstGeom>
          <a:solidFill>
            <a:schemeClr val="tx1">
              <a:alpha val="45000"/>
            </a:schemeClr>
          </a:solidFill>
          <a:ln w="152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773168" y="4123944"/>
            <a:ext cx="3913632" cy="4846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chemeClr val="bg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</a:t>
            </a:r>
            <a:r>
              <a:rPr lang="en-US" sz="950" dirty="0">
                <a:solidFill>
                  <a:srgbClr val="F59E0B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000" dirty="0">
                <a:solidFill>
                  <a:schemeClr val="bg1"/>
                </a:solidFill>
              </a:rPr>
              <a:t>:</a:t>
            </a:r>
            <a:r>
              <a:rPr lang="en-US" sz="1000" dirty="0"/>
              <a:t> </a:t>
            </a:r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Déploiement : GitHub Pages activé, README finalisé et présentation PowerPoint ajoutée</a:t>
            </a: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3" name="ZoneTexte 32"/>
          <p:cNvSpPr txBox="1"/>
          <p:nvPr/>
        </p:nvSpPr>
        <p:spPr>
          <a:xfrm>
            <a:off x="364556" y="3666241"/>
            <a:ext cx="404285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>
                    <a:lumMod val="85000"/>
                  </a:schemeClr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 CSS : </a:t>
            </a:r>
            <a:r>
              <a:rPr lang="en-US" sz="1050" dirty="0">
                <a:solidFill>
                  <a:schemeClr val="bg1">
                    <a:lumMod val="85000"/>
                  </a:schemeClr>
                </a:solidFill>
              </a:rPr>
              <a:t>CSS : Bento Grid, sections hero et catégories, effets hover</a:t>
            </a:r>
            <a:endParaRPr lang="en-US" sz="105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790">
        <p15:prstTrans prst="curtains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365760" y="87590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DIFFICULTÉS ET SOLUTIONS</a:t>
            </a:r>
            <a:endParaRPr lang="en-US" sz="24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10058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E293B">
              <a:alpha val="70000"/>
            </a:srgbClr>
          </a:solidFill>
          <a:ln w="25400">
            <a:solidFill>
              <a:srgbClr val="FF6B35"/>
            </a:solidFill>
            <a:prstDash val="solid"/>
          </a:ln>
        </p:spPr>
        <p:txBody>
          <a:bodyPr/>
          <a:lstStyle/>
          <a:p>
            <a:r>
              <a:rPr lang="en-US"/>
              <a:t>DIFFICULTE                                                                   SOLUTION</a:t>
            </a:r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2920" y="1005840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65760" y="160020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1E293B">
              <a:alpha val="50000"/>
            </a:srgbClr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r>
              <a:rPr lang="en-US" altLang="fr-FR" dirty="0"/>
              <a:t>Mon s</a:t>
            </a:r>
            <a:r>
              <a:rPr lang="en-US" altLang="en-US" dirty="0"/>
              <a:t>é</a:t>
            </a:r>
            <a:r>
              <a:rPr lang="en-US" altLang="fr-FR" dirty="0"/>
              <a:t>lecteur • dark-mode ne battait pas . bg-dark de Bootstrap sur la navbar.</a:t>
            </a:r>
            <a:endParaRPr lang="en-US" altLang="fr-FR" dirty="0"/>
          </a:p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02920" y="1645920"/>
            <a:ext cx="374904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1618488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1E293B">
              <a:alpha val="50000"/>
            </a:srgbClr>
          </a:solidFill>
          <a:ln w="15240">
            <a:solidFill>
              <a:srgbClr val="0D9488"/>
            </a:solidFill>
            <a:prstDash val="solid"/>
          </a:ln>
        </p:spPr>
        <p:txBody>
          <a:bodyPr/>
          <a:lstStyle/>
          <a:p>
            <a:r>
              <a:rPr lang="en-US" altLang="fr-FR"/>
              <a:t>Mon s</a:t>
            </a:r>
            <a:r>
              <a:rPr lang="en-US" altLang="en-US"/>
              <a:t>é</a:t>
            </a:r>
            <a:r>
              <a:rPr lang="en-US" altLang="fr-FR"/>
              <a:t>lecteur • dark-mode ne battait pas . bg-dark de Bootstrap sur la navbar.</a:t>
            </a:r>
            <a:endParaRPr lang="en-US" altLang="fr-FR"/>
          </a:p>
          <a:p>
            <a:r>
              <a:rPr lang="en-US" altLang="fr-FR"/>
              <a:t>Solution</a:t>
            </a:r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65760" y="301752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E293B">
              <a:alpha val="70000"/>
            </a:srgbClr>
          </a:solidFill>
          <a:ln w="25400">
            <a:solidFill>
              <a:schemeClr val="accent2"/>
            </a:solidFill>
            <a:prstDash val="solid"/>
          </a:ln>
        </p:spPr>
        <p:txBody>
          <a:bodyPr/>
          <a:lstStyle/>
          <a:p>
            <a:r>
              <a:rPr lang="en-US"/>
              <a:t>DIFFUCULTE                                                                  SOLUTION</a:t>
            </a:r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65760" y="372618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1E293B">
              <a:alpha val="50000"/>
            </a:srgbClr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r>
              <a:rPr lang="en-US" altLang="fr-FR"/>
              <a:t>Mes compteurs + fade-in avec scroll laggaient sur mobile 375px.</a:t>
            </a:r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754880" y="3726180"/>
            <a:ext cx="4023360" cy="1234440"/>
          </a:xfrm>
          <a:prstGeom prst="roundRect">
            <a:avLst>
              <a:gd name="adj" fmla="val 8889"/>
            </a:avLst>
          </a:prstGeom>
          <a:solidFill>
            <a:srgbClr val="1E293B">
              <a:alpha val="50000"/>
            </a:srgbClr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r>
              <a:rPr lang="en-US" altLang="fr-FR"/>
              <a:t>IntersectionObserver + unobserve pour jouer l'anim 1 seule fois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790">
        <p15:prstTrans prst="curtains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274320" y="34651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RESSOURCES ET DOCUMENTATION</a:t>
            </a:r>
            <a:endParaRPr lang="en-US" sz="2400" dirty="0">
              <a:solidFill>
                <a:schemeClr val="bg2">
                  <a:lumMod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74320" y="1005840"/>
            <a:ext cx="2743200" cy="841248"/>
          </a:xfrm>
          <a:prstGeom prst="roundRect">
            <a:avLst>
              <a:gd name="adj" fmla="val 13043"/>
            </a:avLst>
          </a:prstGeom>
          <a:solidFill>
            <a:schemeClr val="tx1">
              <a:alpha val="45000"/>
            </a:schemeClr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4048" y="1005840"/>
            <a:ext cx="2523744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MDN Web Docs</a:t>
            </a:r>
            <a:endParaRPr lang="en-US" sz="1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Référence HTML5, CSS3, JS Vanilla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27832" y="1005840"/>
            <a:ext cx="2743200" cy="841248"/>
          </a:xfrm>
          <a:prstGeom prst="roundRect">
            <a:avLst>
              <a:gd name="adj" fmla="val 13043"/>
            </a:avLst>
          </a:prstGeom>
          <a:solidFill>
            <a:schemeClr val="tx1">
              <a:alpha val="45000"/>
            </a:schemeClr>
          </a:solidFill>
          <a:ln w="152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337560" y="1005840"/>
            <a:ext cx="2523744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 5 Docs</a:t>
            </a:r>
            <a:endParaRPr lang="en-US" sz="1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Composants, grille, utilitaires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81344" y="1005840"/>
            <a:ext cx="2743200" cy="841248"/>
          </a:xfrm>
          <a:prstGeom prst="roundRect">
            <a:avLst>
              <a:gd name="adj" fmla="val 13043"/>
            </a:avLst>
          </a:prstGeom>
          <a:solidFill>
            <a:schemeClr val="tx1">
              <a:alpha val="45000"/>
            </a:schemeClr>
          </a:solidFill>
          <a:ln w="152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91072" y="1005840"/>
            <a:ext cx="2523744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W3Schools</a:t>
            </a:r>
            <a:endParaRPr lang="en-US" sz="1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Tutoriels et exemples pratiques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4320" y="1984248"/>
            <a:ext cx="2743200" cy="841248"/>
          </a:xfrm>
          <a:prstGeom prst="roundRect">
            <a:avLst>
              <a:gd name="adj" fmla="val 13043"/>
            </a:avLst>
          </a:prstGeom>
          <a:solidFill>
            <a:schemeClr val="tx1">
              <a:alpha val="45000"/>
            </a:schemeClr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4048" y="1984248"/>
            <a:ext cx="2523744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W3C Validator</a:t>
            </a:r>
            <a:endParaRPr lang="en-US" sz="1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Validation HTML  0 erreur bloquante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218688" y="1984248"/>
            <a:ext cx="2743200" cy="841248"/>
          </a:xfrm>
          <a:prstGeom prst="roundRect">
            <a:avLst>
              <a:gd name="adj" fmla="val 13043"/>
            </a:avLst>
          </a:prstGeom>
          <a:solidFill>
            <a:schemeClr val="tx1">
              <a:alpha val="45000"/>
            </a:schemeClr>
          </a:solidFill>
          <a:ln w="152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337560" y="1984248"/>
            <a:ext cx="2523744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Fonts</a:t>
            </a:r>
            <a:endParaRPr lang="en-US" sz="1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Poppins , Times new roman Open Sans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81344" y="1984248"/>
            <a:ext cx="2743200" cy="841248"/>
          </a:xfrm>
          <a:prstGeom prst="roundRect">
            <a:avLst>
              <a:gd name="adj" fmla="val 13043"/>
            </a:avLst>
          </a:prstGeom>
          <a:solidFill>
            <a:schemeClr val="tx1">
              <a:alpha val="45000"/>
            </a:schemeClr>
          </a:solidFill>
          <a:ln w="152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291072" y="1984248"/>
            <a:ext cx="2523744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 Icons</a:t>
            </a:r>
            <a:endParaRPr lang="en-US" sz="1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Icônes vectorielles intégrées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4320" y="2962656"/>
            <a:ext cx="2743200" cy="841248"/>
          </a:xfrm>
          <a:prstGeom prst="roundRect">
            <a:avLst>
              <a:gd name="adj" fmla="val 13043"/>
            </a:avLst>
          </a:prstGeom>
          <a:solidFill>
            <a:schemeClr val="tx1">
              <a:alpha val="45000"/>
            </a:schemeClr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84048" y="2962656"/>
            <a:ext cx="2523744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Docs</a:t>
            </a:r>
            <a:endParaRPr lang="en-US" sz="1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GitHub Pages, commits, README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27832" y="2962656"/>
            <a:ext cx="2743200" cy="841248"/>
          </a:xfrm>
          <a:prstGeom prst="roundRect">
            <a:avLst>
              <a:gd name="adj" fmla="val 13043"/>
            </a:avLst>
          </a:prstGeom>
          <a:solidFill>
            <a:schemeClr val="tx1">
              <a:alpha val="45000"/>
            </a:schemeClr>
          </a:solidFill>
          <a:ln w="152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337560" y="2962656"/>
            <a:ext cx="2523744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Awwwards / Dribbble</a:t>
            </a:r>
            <a:endParaRPr lang="en-US" sz="1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Inspiration design UI/UX 2026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81344" y="2962656"/>
            <a:ext cx="2743200" cy="841248"/>
          </a:xfrm>
          <a:prstGeom prst="roundRect">
            <a:avLst>
              <a:gd name="adj" fmla="val 13043"/>
            </a:avLst>
          </a:prstGeom>
          <a:solidFill>
            <a:schemeClr val="tx1">
              <a:alpha val="45000"/>
            </a:schemeClr>
          </a:solidFill>
          <a:ln w="152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291072" y="2962656"/>
            <a:ext cx="2523744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endParaRPr lang="en-US" sz="1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Images libres de droits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74320" y="3941064"/>
            <a:ext cx="2743200" cy="841248"/>
          </a:xfrm>
          <a:prstGeom prst="roundRect">
            <a:avLst>
              <a:gd name="adj" fmla="val 13043"/>
            </a:avLst>
          </a:prstGeom>
          <a:solidFill>
            <a:schemeClr val="tx1">
              <a:alpha val="45000"/>
            </a:schemeClr>
          </a:solidFill>
          <a:ln w="1524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384048" y="3941064"/>
            <a:ext cx="2523744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CSS-Tricks</a:t>
            </a:r>
            <a:endParaRPr lang="en-US" sz="1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Guides Flexbox, Grid, CSS </a:t>
            </a:r>
            <a:r>
              <a:rPr lang="en-US" sz="1100" dirty="0" err="1">
                <a:solidFill>
                  <a:srgbClr val="CBD5E1"/>
                </a:solidFill>
              </a:rPr>
              <a:t>avancé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3227832" y="3941064"/>
            <a:ext cx="2743200" cy="841248"/>
          </a:xfrm>
          <a:prstGeom prst="roundRect">
            <a:avLst>
              <a:gd name="adj" fmla="val 13043"/>
            </a:avLst>
          </a:prstGeom>
          <a:solidFill>
            <a:schemeClr val="tx1">
              <a:alpha val="45000"/>
            </a:schemeClr>
          </a:solidFill>
          <a:ln w="1524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3337560" y="3941064"/>
            <a:ext cx="2523744" cy="8412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Coolors</a:t>
            </a:r>
            <a:endParaRPr lang="en-US" sz="16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Générateur de palettes de couleurs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181344" y="3941064"/>
            <a:ext cx="2743200" cy="841248"/>
          </a:xfrm>
          <a:prstGeom prst="roundRect">
            <a:avLst>
              <a:gd name="adj" fmla="val 13043"/>
            </a:avLst>
          </a:prstGeom>
          <a:solidFill>
            <a:schemeClr val="tx1">
              <a:alpha val="45000"/>
            </a:schemeClr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291072" y="3941064"/>
            <a:ext cx="2523744" cy="84124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 Documentation</a:t>
            </a:r>
            <a:endParaRPr lang="en-US" sz="16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Commandes Git essentielles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790">
        <p15:prstTrans prst="curtains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384048" y="100584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DÉMONSTRATION LIVE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84048" y="978408"/>
            <a:ext cx="8586216" cy="758952"/>
          </a:xfrm>
          <a:prstGeom prst="roundRect">
            <a:avLst>
              <a:gd name="adj" fmla="val 14118"/>
            </a:avLst>
          </a:prstGeom>
          <a:solidFill>
            <a:srgbClr val="0F172A">
              <a:alpha val="90000"/>
            </a:srgbClr>
          </a:solidFill>
          <a:ln w="25400">
            <a:solidFill>
              <a:schemeClr val="accent2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0D948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</a:t>
            </a:r>
            <a:r>
              <a:rPr lang="en-US" sz="1600" dirty="0">
                <a:solidFill>
                  <a:schemeClr val="accent2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Lien Github Pages :</a:t>
            </a:r>
            <a:r>
              <a:rPr lang="en-US" sz="16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https://binetourassul.github.io/</a:t>
            </a:r>
            <a:r>
              <a:rPr lang="en-US" sz="1600" b="1" dirty="0" err="1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Binetou-seck</a:t>
            </a:r>
            <a:r>
              <a:rPr lang="en-US" sz="1600" b="1" dirty="0">
                <a:solidFill>
                  <a:srgbClr val="FFFFFF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--AfriTalent/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71600" y="960120"/>
            <a:ext cx="6400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74320" y="1920240"/>
            <a:ext cx="2788920" cy="2743200"/>
          </a:xfrm>
          <a:prstGeom prst="roundRect">
            <a:avLst>
              <a:gd name="adj" fmla="val 4000"/>
            </a:avLst>
          </a:prstGeom>
          <a:solidFill>
            <a:srgbClr val="1E293B">
              <a:alpha val="60000"/>
            </a:srgbClr>
          </a:solidFill>
          <a:ln w="15240">
            <a:solidFill>
              <a:srgbClr val="FF6B35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84048" y="1993392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84048" y="199339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60120" y="20116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Page d'accueil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2596896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Hero section animée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308610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Navbar + dark mode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57200" y="3575304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Compteurs JS au scroll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064508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Bento Grid asymétrique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227832" y="1920240"/>
            <a:ext cx="2788920" cy="2743200"/>
          </a:xfrm>
          <a:prstGeom prst="roundRect">
            <a:avLst>
              <a:gd name="adj" fmla="val 4000"/>
            </a:avLst>
          </a:prstGeom>
          <a:solidFill>
            <a:srgbClr val="1E293B">
              <a:alpha val="60000"/>
            </a:srgbClr>
          </a:solidFill>
          <a:ln w="15240">
            <a:solidFill>
              <a:srgbClr val="0D9488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913632" y="20116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Freelances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22" name="Text 19"/>
          <p:cNvSpPr/>
          <p:nvPr/>
        </p:nvSpPr>
        <p:spPr>
          <a:xfrm>
            <a:off x="3410712" y="2596896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Catalogue 9 profils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410712" y="308610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Filtrage par catégorie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410712" y="3575304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Cards Bootstrap responsive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410712" y="4064508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Responsive mobile 375px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181344" y="1920240"/>
            <a:ext cx="2788920" cy="2743200"/>
          </a:xfrm>
          <a:prstGeom prst="roundRect">
            <a:avLst>
              <a:gd name="adj" fmla="val 4000"/>
            </a:avLst>
          </a:prstGeom>
          <a:solidFill>
            <a:srgbClr val="1E293B">
              <a:alpha val="60000"/>
            </a:srgbClr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27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867144" y="2011680"/>
            <a:ext cx="2011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Contact + Tarifs</a:t>
            </a:r>
            <a:endParaRPr lang="en-US" sz="1400" dirty="0">
              <a:solidFill>
                <a:schemeClr val="accent2"/>
              </a:solidFill>
            </a:endParaRPr>
          </a:p>
        </p:txBody>
      </p:sp>
      <p:sp>
        <p:nvSpPr>
          <p:cNvPr id="30" name="Text 27"/>
          <p:cNvSpPr/>
          <p:nvPr/>
        </p:nvSpPr>
        <p:spPr>
          <a:xfrm>
            <a:off x="6364224" y="2596896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Formulaire validé JS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364224" y="308610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Messages d'erreur visuels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364224" y="3575304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3 plans tarifaires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364224" y="4064508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</a:rPr>
              <a:t>FAQ accordion Bootstrap</a:t>
            </a:r>
            <a:endParaRPr lang="en-US" sz="1100" dirty="0"/>
          </a:p>
        </p:txBody>
      </p:sp>
      <p:sp>
        <p:nvSpPr>
          <p:cNvPr id="37" name="Shape 8"/>
          <p:cNvSpPr/>
          <p:nvPr/>
        </p:nvSpPr>
        <p:spPr>
          <a:xfrm>
            <a:off x="3328416" y="2002536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r>
              <a:rPr lang="en-US" sz="1200" dirty="0">
                <a:solidFill>
                  <a:schemeClr val="bg1"/>
                </a:solidFill>
              </a:rPr>
              <a:t>02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9" name="Shape 8"/>
          <p:cNvSpPr/>
          <p:nvPr/>
        </p:nvSpPr>
        <p:spPr>
          <a:xfrm>
            <a:off x="6272784" y="2014086"/>
            <a:ext cx="502920" cy="50292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r>
              <a:rPr lang="en-US" sz="1200" dirty="0">
                <a:solidFill>
                  <a:schemeClr val="bg1"/>
                </a:solidFill>
              </a:rPr>
              <a:t>03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790">
        <p15:prstTrans prst="curtains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365760" y="102028"/>
            <a:ext cx="74980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PERSPECTIVES</a:t>
            </a:r>
            <a:endParaRPr lang="en-US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65760" y="960120"/>
            <a:ext cx="4206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CE QUE J'AI ACCOMPLI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587466" y="960120"/>
            <a:ext cx="4206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PERSPECTIVES D'AMÉLIORATION</a:t>
            </a:r>
            <a:endParaRPr lang="en-US" sz="1300" dirty="0">
              <a:solidFill>
                <a:schemeClr val="accent2"/>
              </a:solidFill>
            </a:endParaRPr>
          </a:p>
        </p:txBody>
      </p:sp>
      <p:sp>
        <p:nvSpPr>
          <p:cNvPr id="32" name="Rectangle : coins arrondis 31"/>
          <p:cNvSpPr/>
          <p:nvPr/>
        </p:nvSpPr>
        <p:spPr>
          <a:xfrm>
            <a:off x="4708258" y="1307592"/>
            <a:ext cx="3931920" cy="3534156"/>
          </a:xfrm>
          <a:prstGeom prst="round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Zone de texte 3"/>
          <p:cNvSpPr txBox="1"/>
          <p:nvPr/>
        </p:nvSpPr>
        <p:spPr>
          <a:xfrm>
            <a:off x="0" y="1308100"/>
            <a:ext cx="4531360" cy="3758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fr-FR"/>
              <a:t>Ce que j'ai appris :</a:t>
            </a:r>
            <a:endParaRPr lang="en-US" altLang="fr-FR"/>
          </a:p>
          <a:p>
            <a:r>
              <a:rPr lang="en-US" altLang="fr-FR"/>
              <a:t>- Structure HTML5 s</a:t>
            </a:r>
            <a:r>
              <a:rPr lang="en-US" altLang="en-US"/>
              <a:t>é</a:t>
            </a:r>
            <a:r>
              <a:rPr lang="en-US" altLang="fr-FR"/>
              <a:t>mantique</a:t>
            </a:r>
            <a:endParaRPr lang="en-US" altLang="fr-FR"/>
          </a:p>
          <a:p>
            <a:r>
              <a:rPr lang="en-US" altLang="fr-FR"/>
              <a:t>- CSS avanc</a:t>
            </a:r>
            <a:r>
              <a:rPr lang="en-US" altLang="en-US"/>
              <a:t>é</a:t>
            </a:r>
            <a:r>
              <a:rPr lang="en-US" altLang="fr-FR"/>
              <a:t>: Grid, Flexbox, animations</a:t>
            </a:r>
            <a:endParaRPr lang="en-US" altLang="fr-FR"/>
          </a:p>
          <a:p>
            <a:r>
              <a:rPr lang="en-US" altLang="fr-FR"/>
              <a:t>- Bootstrap 5: composants et personalisation</a:t>
            </a:r>
            <a:endParaRPr lang="en-US" altLang="fr-FR"/>
          </a:p>
          <a:p>
            <a:r>
              <a:rPr lang="en-US" altLang="fr-FR"/>
              <a:t>- JavaScript vanilla: DOM, </a:t>
            </a:r>
            <a:r>
              <a:rPr lang="en-US" altLang="en-US"/>
              <a:t>é</a:t>
            </a:r>
            <a:r>
              <a:rPr lang="en-US" altLang="fr-FR"/>
              <a:t>v</a:t>
            </a:r>
            <a:r>
              <a:rPr lang="en-US" altLang="en-US"/>
              <a:t>é</a:t>
            </a:r>
            <a:r>
              <a:rPr lang="en-US" altLang="fr-FR"/>
              <a:t>nements, localStorage</a:t>
            </a:r>
            <a:endParaRPr lang="en-US" altLang="fr-FR"/>
          </a:p>
          <a:p>
            <a:r>
              <a:rPr lang="en-US" altLang="fr-FR"/>
              <a:t>- Git &amp; GitHub : versioning et d</a:t>
            </a:r>
            <a:r>
              <a:rPr lang="en-US" altLang="en-US"/>
              <a:t>é</a:t>
            </a:r>
            <a:r>
              <a:rPr lang="en-US" altLang="fr-FR"/>
              <a:t>ploiement</a:t>
            </a:r>
            <a:endParaRPr lang="en-US" altLang="fr-FR"/>
          </a:p>
          <a:p>
            <a:r>
              <a:rPr lang="en-US" altLang="fr-FR"/>
              <a:t>- Validation W3C et accessibilit</a:t>
            </a:r>
            <a:r>
              <a:rPr lang="en-US" altLang="en-US"/>
              <a:t>é</a:t>
            </a:r>
            <a:endParaRPr lang="en-US" altLang="en-US"/>
          </a:p>
        </p:txBody>
      </p:sp>
      <p:sp>
        <p:nvSpPr>
          <p:cNvPr id="5" name="Zone de texte 4"/>
          <p:cNvSpPr txBox="1"/>
          <p:nvPr/>
        </p:nvSpPr>
        <p:spPr>
          <a:xfrm>
            <a:off x="4956175" y="1506855"/>
            <a:ext cx="3475355" cy="3138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fr-FR" sz="1400"/>
              <a:t>1. Backend : Connecter le formulaire à une vraie API Node.js + Base MongoDB pour stocker les freelances</a:t>
            </a:r>
            <a:endParaRPr lang="en-US" altLang="fr-FR" sz="1400"/>
          </a:p>
          <a:p>
            <a:r>
              <a:rPr lang="en-US" altLang="fr-FR" sz="1400"/>
              <a:t>2. Paiement : Int</a:t>
            </a:r>
            <a:r>
              <a:rPr lang="en-US" altLang="en-US" sz="1400"/>
              <a:t>é</a:t>
            </a:r>
            <a:r>
              <a:rPr lang="en-US" altLang="fr-FR" sz="1400"/>
              <a:t>grer Mobile Money Orange</a:t>
            </a:r>
            <a:endParaRPr lang="en-US" altLang="fr-FR" sz="1400"/>
          </a:p>
          <a:p>
            <a:r>
              <a:rPr lang="en-US" altLang="fr-FR" sz="1400"/>
              <a:t>Money / Wave pour le march</a:t>
            </a:r>
            <a:r>
              <a:rPr lang="en-US" altLang="en-US" sz="1400"/>
              <a:t>é</a:t>
            </a:r>
            <a:r>
              <a:rPr lang="en-US" altLang="fr-FR" sz="1400"/>
              <a:t> africain</a:t>
            </a:r>
            <a:endParaRPr lang="en-US" altLang="fr-FR" sz="1400"/>
          </a:p>
          <a:p>
            <a:r>
              <a:rPr lang="en-US" altLang="fr-FR" sz="1400"/>
              <a:t>3. Fonctionnalit</a:t>
            </a:r>
            <a:r>
              <a:rPr lang="en-US" altLang="en-US" sz="1400"/>
              <a:t>é</a:t>
            </a:r>
            <a:r>
              <a:rPr lang="en-US" altLang="fr-FR" sz="1400"/>
              <a:t> : Syst</a:t>
            </a:r>
            <a:r>
              <a:rPr lang="" altLang="en-US" sz="1400"/>
              <a:t>è</a:t>
            </a:r>
            <a:r>
              <a:rPr lang="en-US" altLang="fr-FR" sz="1400"/>
              <a:t>me de messagerie temps r</a:t>
            </a:r>
            <a:r>
              <a:rPr lang="en-US" altLang="en-US" sz="1400"/>
              <a:t>é</a:t>
            </a:r>
            <a:r>
              <a:rPr lang="en-US" altLang="fr-FR" sz="1400"/>
              <a:t>el entre client et freelance avec</a:t>
            </a:r>
            <a:endParaRPr lang="en-US" altLang="fr-FR" sz="1400"/>
          </a:p>
          <a:p>
            <a:r>
              <a:rPr lang="en-US" altLang="fr-FR" sz="1400"/>
              <a:t>Socket.io</a:t>
            </a:r>
            <a:endParaRPr lang="en-US" altLang="fr-FR" sz="1400"/>
          </a:p>
          <a:p>
            <a:r>
              <a:rPr lang="en-US" altLang="fr-FR" sz="1400"/>
              <a:t>4. D</a:t>
            </a:r>
            <a:r>
              <a:rPr lang="en-US" altLang="en-US" sz="1400"/>
              <a:t>é</a:t>
            </a:r>
            <a:r>
              <a:rPr lang="en-US" altLang="fr-FR" sz="1400"/>
              <a:t>ploiement : Passer de GitHub Pages à Vercel + nom de domaine afritalent. sn</a:t>
            </a:r>
            <a:endParaRPr lang="en-US" altLang="fr-FR" sz="14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79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F172A">
            <a:alpha val="85000"/>
          </a:srgbClr>
        </a:solidFill>
        <a:ln w="12700">
          <a:solidFill>
            <a:srgbClr val="0F172A">
              <a:alpha val="0"/>
            </a:srgbClr>
          </a:solidFill>
          <a:prstDash val="solid"/>
        </a:ln>
      </a:spPr>
      <a:bodyPr/>
      <a:lstStyle>
        <a:defPPr algn="l">
          <a:defRPr/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5918</Words>
  <Application>WPS Presentation</Application>
  <PresentationFormat>Affichage à l'écran (16:9)</PresentationFormat>
  <Paragraphs>316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Times New Roman</vt:lpstr>
      <vt:lpstr>Courier New</vt:lpstr>
      <vt:lpstr>Courier New</vt:lpstr>
      <vt:lpstr>Courier New</vt:lpstr>
      <vt:lpstr>Microsoft YaHei</vt:lpstr>
      <vt:lpstr>Arial Unicode MS</vt:lpstr>
      <vt:lpstr>Calibri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HP 250 G7</cp:lastModifiedBy>
  <cp:revision>6</cp:revision>
  <dcterms:created xsi:type="dcterms:W3CDTF">2026-06-18T21:23:00Z</dcterms:created>
  <dcterms:modified xsi:type="dcterms:W3CDTF">2026-06-21T14:41:03Z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7DA1BC66940E4D779A1E8A9504FE9CCB_12</vt:lpwstr>
  </property>
  <property fmtid="{D5CDD505-2E9C-101B-9397-08002B2CF9AE}" pid="3" name="KSOProductBuildVer">
    <vt:lpwstr>1036-12.9.0.21555</vt:lpwstr>
  </property>
</Properties>
</file>